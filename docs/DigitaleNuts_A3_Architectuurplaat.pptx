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24113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020" y="2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 Gerits" userId="126b1ecc-3250-46e4-92c9-401ea607d453" providerId="ADAL" clId="{83B7AE52-9FB0-45C3-8B9D-27CBC4A0BA12}"/>
    <pc:docChg chg="modSld">
      <pc:chgData name="Michel Gerits" userId="126b1ecc-3250-46e4-92c9-401ea607d453" providerId="ADAL" clId="{83B7AE52-9FB0-45C3-8B9D-27CBC4A0BA12}" dt="2026-02-21T10:35:18.249" v="4" actId="1076"/>
      <pc:docMkLst>
        <pc:docMk/>
      </pc:docMkLst>
      <pc:sldChg chg="modSp mod">
        <pc:chgData name="Michel Gerits" userId="126b1ecc-3250-46e4-92c9-401ea607d453" providerId="ADAL" clId="{83B7AE52-9FB0-45C3-8B9D-27CBC4A0BA12}" dt="2026-02-21T10:35:18.249" v="4" actId="1076"/>
        <pc:sldMkLst>
          <pc:docMk/>
          <pc:sldMk cId="0" sldId="256"/>
        </pc:sldMkLst>
        <pc:spChg chg="mod">
          <ac:chgData name="Michel Gerits" userId="126b1ecc-3250-46e4-92c9-401ea607d453" providerId="ADAL" clId="{83B7AE52-9FB0-45C3-8B9D-27CBC4A0BA12}" dt="2026-02-21T10:35:07.036" v="0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ichel Gerits" userId="126b1ecc-3250-46e4-92c9-401ea607d453" providerId="ADAL" clId="{83B7AE52-9FB0-45C3-8B9D-27CBC4A0BA12}" dt="2026-02-21T10:35:10.557" v="1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ichel Gerits" userId="126b1ecc-3250-46e4-92c9-401ea607d453" providerId="ADAL" clId="{83B7AE52-9FB0-45C3-8B9D-27CBC4A0BA12}" dt="2026-02-21T10:35:18.249" v="4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Michel Gerits" userId="126b1ecc-3250-46e4-92c9-401ea607d453" providerId="ADAL" clId="{83B7AE52-9FB0-45C3-8B9D-27CBC4A0BA12}" dt="2026-02-21T10:35:16.429" v="3" actId="1076"/>
          <ac:spMkLst>
            <pc:docMk/>
            <pc:sldMk cId="0" sldId="256"/>
            <ac:spMk id="31" creationId="{00000000-0000-0000-0000-000000000000}"/>
          </ac:spMkLst>
        </pc:spChg>
        <pc:cxnChg chg="mod">
          <ac:chgData name="Michel Gerits" userId="126b1ecc-3250-46e4-92c9-401ea607d453" providerId="ADAL" clId="{83B7AE52-9FB0-45C3-8B9D-27CBC4A0BA12}" dt="2026-02-21T10:35:13.364" v="2" actId="14100"/>
          <ac:cxnSpMkLst>
            <pc:docMk/>
            <pc:sldMk cId="0" sldId="256"/>
            <ac:cxnSpMk id="30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417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Digitale Nuts – Referentiearchitectuur (A3 plaat)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417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GIPOD als backbone • OSLO semantiek • Modulaire toezichtketen • Optimalisatielagen voorbereid (schil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017520"/>
          </a:xfrm>
          <a:prstGeom prst="rect">
            <a:avLst/>
          </a:prstGeom>
          <a:solidFill>
            <a:srgbClr val="FAFAFA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• Toezichter</a:t>
            </a:r>
            <a:br/>
            <a:r>
              <a:t>• Dispatcher</a:t>
            </a:r>
            <a:br/>
            <a:r>
              <a:t>• Nutsmaatschappij</a:t>
            </a:r>
            <a:br/>
            <a:r>
              <a:t>• Stad (beleid/asset)</a:t>
            </a:r>
            <a:br/>
            <a:r>
              <a:t>• Burger/klachten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solidFill>
            <a:srgbClr val="46464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63440"/>
            <a:ext cx="3474720" cy="2194560"/>
          </a:xfrm>
          <a:prstGeom prst="rect">
            <a:avLst/>
          </a:prstGeom>
          <a:solidFill>
            <a:srgbClr val="FAFAFA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rPr dirty="0"/>
              <a:t>• Data-</a:t>
            </a:r>
            <a:r>
              <a:rPr dirty="0" err="1"/>
              <a:t>eigenaarschap</a:t>
            </a:r>
            <a:r>
              <a:rPr dirty="0"/>
              <a:t> </a:t>
            </a:r>
            <a:r>
              <a:rPr dirty="0" err="1"/>
              <a:t>bij</a:t>
            </a:r>
            <a:r>
              <a:rPr dirty="0"/>
              <a:t> </a:t>
            </a:r>
            <a:r>
              <a:rPr dirty="0" err="1"/>
              <a:t>bron</a:t>
            </a:r>
            <a:br>
              <a:rPr dirty="0"/>
            </a:br>
            <a:r>
              <a:rPr dirty="0"/>
              <a:t>• </a:t>
            </a:r>
            <a:r>
              <a:rPr dirty="0" err="1"/>
              <a:t>Uniforme</a:t>
            </a:r>
            <a:r>
              <a:rPr dirty="0"/>
              <a:t> </a:t>
            </a:r>
            <a:r>
              <a:rPr dirty="0" err="1"/>
              <a:t>ontsluiting</a:t>
            </a:r>
            <a:r>
              <a:rPr dirty="0"/>
              <a:t> via GIPOD</a:t>
            </a:r>
            <a:br>
              <a:rPr dirty="0"/>
            </a:br>
            <a:r>
              <a:rPr dirty="0"/>
              <a:t>• OSLO-</a:t>
            </a:r>
            <a:r>
              <a:rPr dirty="0" err="1"/>
              <a:t>conforme</a:t>
            </a:r>
            <a:r>
              <a:rPr dirty="0"/>
              <a:t> </a:t>
            </a:r>
            <a:r>
              <a:rPr dirty="0" err="1"/>
              <a:t>begrippen</a:t>
            </a:r>
            <a:br>
              <a:rPr dirty="0"/>
            </a:br>
            <a:r>
              <a:rPr dirty="0"/>
              <a:t>• Audit/logging &amp; </a:t>
            </a:r>
            <a:r>
              <a:rPr dirty="0" err="1"/>
              <a:t>traceerbaarheid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4663440"/>
            <a:ext cx="3474720" cy="457200"/>
          </a:xfrm>
          <a:prstGeom prst="rect">
            <a:avLst/>
          </a:prstGeom>
          <a:solidFill>
            <a:srgbClr val="46464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040880"/>
            <a:ext cx="3474720" cy="3200400"/>
          </a:xfrm>
          <a:prstGeom prst="rect">
            <a:avLst/>
          </a:prstGeom>
          <a:solidFill>
            <a:srgbClr val="FAFAFA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• Interstedelijke validatie</a:t>
            </a:r>
            <a:br/>
            <a:r>
              <a:t>• Documentatie &amp; overdraagbaarheid</a:t>
            </a:r>
            <a:br/>
            <a:r>
              <a:t>• Volgers informeren (lessons learned)</a:t>
            </a:r>
            <a:br/>
            <a:r>
              <a:t>• Gemeenschappelijke MVP-scope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7040880"/>
            <a:ext cx="3474720" cy="457200"/>
          </a:xfrm>
          <a:prstGeom prst="rect">
            <a:avLst/>
          </a:prstGeom>
          <a:solidFill>
            <a:srgbClr val="46464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Partnerschap (City of Things)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8046720" cy="1417320"/>
          </a:xfrm>
          <a:prstGeom prst="rect">
            <a:avLst/>
          </a:prstGeom>
          <a:solidFill>
            <a:srgbClr val="F5F5F5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GIPOD (enkelvoudige ontsluiting) • OSLO semantiek</a:t>
            </a:r>
            <a:br/>
            <a:r>
              <a:t>Uniforme API-contracten • brondata + referenties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8046720" cy="457200"/>
          </a:xfrm>
          <a:prstGeom prst="rect">
            <a:avLst/>
          </a:prstGeom>
          <a:solidFill>
            <a:srgbClr val="5A5A5A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LAAG 1 – Datafundament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566160"/>
            <a:ext cx="8046720" cy="1417320"/>
          </a:xfrm>
          <a:prstGeom prst="rect">
            <a:avLst/>
          </a:prstGeom>
          <a:solidFill>
            <a:srgbClr val="FFFAEB"/>
          </a:solidFill>
          <a:ln w="15240">
            <a:solidFill>
              <a:srgbClr val="BE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Import → normalisatie → geocoding → verrijking → outputs</a:t>
            </a:r>
            <a:br/>
            <a:r>
              <a:t>Kwaliteitscontroles • reproduceerbare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566160"/>
            <a:ext cx="8046720" cy="457200"/>
          </a:xfrm>
          <a:prstGeom prst="rect">
            <a:avLst/>
          </a:prstGeom>
          <a:solidFill>
            <a:srgbClr val="BE8C28"/>
          </a:solidFill>
          <a:ln w="15240">
            <a:solidFill>
              <a:srgbClr val="BE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LAAG 2 – Pipeline &amp; verrijking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5212080"/>
            <a:ext cx="6125792" cy="1417320"/>
          </a:xfrm>
          <a:prstGeom prst="rect">
            <a:avLst/>
          </a:prstGeom>
          <a:solidFill>
            <a:srgbClr val="EBFFF5"/>
          </a:solidFill>
          <a:ln w="15240">
            <a:solidFill>
              <a:srgbClr val="32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Dispatch scoring • conflict detection • inspector continuity</a:t>
            </a:r>
            <a:br/>
            <a:r>
              <a:t>Impact score → prioriteitsdelta • explainability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5212080"/>
            <a:ext cx="6125792" cy="457200"/>
          </a:xfrm>
          <a:prstGeom prst="rect">
            <a:avLst/>
          </a:prstGeom>
          <a:solidFill>
            <a:srgbClr val="32965A"/>
          </a:solidFill>
          <a:ln w="15240">
            <a:solidFill>
              <a:srgbClr val="32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LAAG 3 – Beslissingslaag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6858000"/>
            <a:ext cx="8046720" cy="1417320"/>
          </a:xfrm>
          <a:prstGeom prst="rect">
            <a:avLst/>
          </a:prstGeom>
          <a:solidFill>
            <a:srgbClr val="EBF5FF"/>
          </a:solidFill>
          <a:ln w="15240">
            <a:solidFill>
              <a:srgbClr val="28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UI: dispatchbord • kaart • vaststelling • filters • rapportage</a:t>
            </a:r>
            <a:br/>
            <a:r>
              <a:t>Projecteert domeinlogica; geen businessregels in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6858000"/>
            <a:ext cx="8046720" cy="457200"/>
          </a:xfrm>
          <a:prstGeom prst="rect">
            <a:avLst/>
          </a:prstGeom>
          <a:solidFill>
            <a:srgbClr val="2878BE"/>
          </a:solidFill>
          <a:ln w="15240">
            <a:solidFill>
              <a:srgbClr val="28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LAAG 4 – Presentatie / VIBE (MVP)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8503920"/>
            <a:ext cx="8046720" cy="1417320"/>
          </a:xfrm>
          <a:prstGeom prst="rect">
            <a:avLst/>
          </a:prstGeom>
          <a:solidFill>
            <a:srgbClr val="F2EBFF"/>
          </a:solidFill>
          <a:ln w="15240"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AI/Agents • adaptieve cadans • routeoptimalisatie • patroonanalyse</a:t>
            </a:r>
            <a:br/>
            <a:r>
              <a:t>(architectuur voorbereid; communicatie &amp; uitvoering later)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8503920"/>
            <a:ext cx="8046720" cy="457200"/>
          </a:xfrm>
          <a:prstGeom prst="rect">
            <a:avLst/>
          </a:prstGeom>
          <a:solidFill>
            <a:srgbClr val="7850C8"/>
          </a:solidFill>
          <a:ln w="15240"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LAAG 5 – Optimalisatie (schil 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0" y="1463040"/>
            <a:ext cx="2011680" cy="1828800"/>
          </a:xfrm>
          <a:prstGeom prst="rect">
            <a:avLst/>
          </a:prstGeom>
          <a:solidFill>
            <a:srgbClr val="FAFAFA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• GIPOD API</a:t>
            </a:r>
            <a:br/>
            <a:r>
              <a:t>• A-SIGN via GIPOD</a:t>
            </a:r>
            <a:br/>
            <a:r>
              <a:t>• KLM via GIPOD</a:t>
            </a:r>
            <a:br/>
            <a:r>
              <a:t>• Klachten (later)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0" y="1463040"/>
            <a:ext cx="2011680" cy="457200"/>
          </a:xfrm>
          <a:prstGeom prst="rect">
            <a:avLst/>
          </a:prstGeom>
          <a:solidFill>
            <a:srgbClr val="46464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Integraties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18720" y="3474720"/>
            <a:ext cx="2011680" cy="2103120"/>
          </a:xfrm>
          <a:prstGeom prst="rect">
            <a:avLst/>
          </a:prstGeom>
          <a:solidFill>
            <a:srgbClr val="FAFAFA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• Audit events</a:t>
            </a:r>
            <a:br/>
            <a:r>
              <a:t>• Statushistoriek</a:t>
            </a:r>
            <a:br/>
            <a:r>
              <a:t>• Evidence-metadata</a:t>
            </a:r>
            <a:br/>
            <a:r>
              <a:t>• KPI snapshots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618720" y="3474720"/>
            <a:ext cx="2011680" cy="457200"/>
          </a:xfrm>
          <a:prstGeom prst="rect">
            <a:avLst/>
          </a:prstGeom>
          <a:solidFill>
            <a:srgbClr val="46464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Opslag/Logging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0" y="5760720"/>
            <a:ext cx="2011680" cy="1828800"/>
          </a:xfrm>
          <a:prstGeom prst="rect">
            <a:avLst/>
          </a:prstGeom>
          <a:solidFill>
            <a:srgbClr val="FAFAFA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• Operationele API</a:t>
            </a:r>
            <a:br/>
            <a:r>
              <a:t>• PDF/CSV export</a:t>
            </a:r>
            <a:br/>
            <a:r>
              <a:t>• BI-feed (later)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0" y="5760720"/>
            <a:ext cx="2011680" cy="457200"/>
          </a:xfrm>
          <a:prstGeom prst="rect">
            <a:avLst/>
          </a:prstGeom>
          <a:solidFill>
            <a:srgbClr val="46464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618720" y="7772400"/>
            <a:ext cx="201168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94360" rIns="137160" bIns="109728" rtlCol="0" anchor="ctr"/>
          <a:lstStyle/>
          <a:p>
            <a:pPr algn="l">
              <a:defRPr sz="1200"/>
            </a:pPr>
            <a:r>
              <a:t>• Stabiliseer VIBE</a:t>
            </a:r>
            <a:br/>
            <a:r>
              <a:t>• GIPOD contract concreet</a:t>
            </a:r>
            <a:br/>
            <a:r>
              <a:t>• Uniforme ontsluiting</a:t>
            </a:r>
            <a:br/>
            <a:r>
              <a:t>• Documenteer voor andere steden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18720" y="7772400"/>
            <a:ext cx="2011680" cy="457200"/>
          </a:xfrm>
          <a:prstGeom prst="rect">
            <a:avLst/>
          </a:prstGeom>
          <a:solidFill>
            <a:srgbClr val="00785A"/>
          </a:solidFill>
          <a:ln w="15240">
            <a:solidFill>
              <a:srgbClr val="0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MVP Focus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2344400" y="2377440"/>
            <a:ext cx="274320" cy="683514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0" y="4920443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API</a:t>
            </a: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10423472" y="5760720"/>
            <a:ext cx="2195248" cy="91440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06696" y="584073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rPr dirty="0"/>
              <a:t>Exports/KPI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344400" y="7566660"/>
            <a:ext cx="274320" cy="148590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567160" y="808101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MVP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10149840"/>
            <a:ext cx="10332720" cy="411480"/>
          </a:xfrm>
          <a:prstGeom prst="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Principes: GIPOD = backbone • OSLO = semantiek • UI ≠ logica • Gateway integraties • MVP eerst, optimalisatie later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307</Words>
  <Application>Microsoft Office PowerPoint</Application>
  <PresentationFormat>Aangepast</PresentationFormat>
  <Paragraphs>30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 Gerits</cp:lastModifiedBy>
  <cp:revision>1</cp:revision>
  <dcterms:created xsi:type="dcterms:W3CDTF">2013-01-27T09:14:16Z</dcterms:created>
  <dcterms:modified xsi:type="dcterms:W3CDTF">2026-02-21T10:35:27Z</dcterms:modified>
  <cp:category/>
</cp:coreProperties>
</file>